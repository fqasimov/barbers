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121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1210"/>
                </a:solidFill>
                <a:latin typeface="+mn-lt"/>
              </a:rPr>
              <a:t>What a salon with 5 masters pays a month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AZN a month</c:v>
                </c:pt>
              </c:strCache>
            </c:strRef>
          </c:tx>
          <c:spPr>
            <a:solidFill>
              <a:srgbClr val="A3A8AE"/>
            </a:solidFill>
            <a:effectLst/>
          </c:spPr>
          <c:invertIfNegative val="0"/>
          <c:dLbls>
            <c:numFmt formatCode="0&quot; ₼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4121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3A8A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3A8A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1A2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B1A2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Booksy</c:v>
                  </c:pt>
                  <c:pt idx="1">
                    <c:v>Fresha</c:v>
                  </c:pt>
                  <c:pt idx="2">
                    <c:v>yazılnow Pro</c:v>
                  </c:pt>
                  <c:pt idx="3">
                    <c:v>yazılnow Start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187</c:v>
                </c:pt>
                <c:pt idx="1">
                  <c:v>127</c:v>
                </c:pt>
                <c:pt idx="2">
                  <c:v>49</c:v>
                </c:pt>
                <c:pt idx="3">
                  <c:v>29</c:v>
                </c:pt>
              </c:numCache>
            </c:numRef>
          </c:val>
        </c:ser>
        <c:dLbls>
          <c:numFmt formatCode="0&quot; ₼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14121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4121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Introduction. In the web deck the app’s opening animation plays here first. One sentence: what yazılnow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booking in Baku happens in DMs. Walk through the three facts, then the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Solution: one map of every free time. Three groups of benefits, then what nobody else offers.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 for clients: home, a salon, booking a time, comparing salons. The web deck plays the screen recording.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 for salons: signing up and starting the Pro trial, then the tools. The web deck plays the recording.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Beta test: five anonymous testers. Replace these notes with what your testers actually said.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Market: who we serve, and what a salon with five masters pays a month elsewhere.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model: the three plans exactly as in the app. No commission on bookings.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we are: what exists today, and the next three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Team: names, roles and one line each. Then the contacts.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Contacts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2EA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2EA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barbers/deck/export/phones/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6272784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05256" y="62727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210"/>
                </a:solidFill>
              </a:rPr>
              <a:t>yazılnow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85800" y="548640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6B1A2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685800" y="868680"/>
            <a:ext cx="66751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rgbClr val="1412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272784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8C8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272784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8C8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urse"/>
          <p:cNvSpPr txBox="1"/>
          <p:nvPr/>
        </p:nvSpPr>
        <p:spPr>
          <a:xfrm>
            <a:off x="914400" y="1691640"/>
            <a:ext cx="10362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6B1A2A"/>
                </a:solidFill>
              </a:rPr>
              <a:t>INTRODUCTION TO ENTREPRENEURSHIP · GROUP PROJECT 1</a:t>
            </a:r>
            <a:endParaRPr lang="en-US" sz="1200" dirty="0"/>
          </a:p>
        </p:txBody>
      </p:sp>
      <p:pic>
        <p:nvPicPr>
          <p:cNvPr id="3" name="Logo mark" descr="/home/user/barbers/deck/export/phones/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2103120"/>
            <a:ext cx="1234440" cy="1234440"/>
          </a:xfrm>
          <a:prstGeom prst="rect">
            <a:avLst/>
          </a:prstGeom>
        </p:spPr>
      </p:pic>
      <p:sp>
        <p:nvSpPr>
          <p:cNvPr id="4" name="Logo word"/>
          <p:cNvSpPr txBox="1"/>
          <p:nvPr/>
        </p:nvSpPr>
        <p:spPr>
          <a:xfrm>
            <a:off x="4526280" y="22402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-200" kern="0" dirty="0">
                <a:solidFill>
                  <a:srgbClr val="141210"/>
                </a:solidFill>
              </a:rPr>
              <a:t>yazılnow</a:t>
            </a:r>
            <a:endParaRPr lang="en-US" sz="7200" dirty="0"/>
          </a:p>
        </p:txBody>
      </p:sp>
      <p:sp>
        <p:nvSpPr>
          <p:cNvPr id="5" name="Tagline"/>
          <p:cNvSpPr txBox="1"/>
          <p:nvPr/>
        </p:nvSpPr>
        <p:spPr>
          <a:xfrm>
            <a:off x="2194560" y="3657600"/>
            <a:ext cx="78025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1412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a free time with Baku’s barbers and salons — and book it in one tap.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2194560" y="4800600"/>
            <a:ext cx="7802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544B"/>
                </a:solidFill>
              </a:rPr>
              <a:t>yazilnow.az</a:t>
            </a:r>
            <a:pPr algn="ctr" indent="0" marL="0">
              <a:buNone/>
            </a:pPr>
            <a:r>
              <a:rPr lang="en-US" sz="1500" dirty="0">
                <a:solidFill>
                  <a:srgbClr val="6B1A2A"/>
                </a:solidFill>
              </a:rPr>
              <a:t>   ·   </a:t>
            </a:r>
            <a:pPr algn="ctr" indent="0" marL="0">
              <a:buNone/>
            </a:pPr>
            <a:r>
              <a:rPr lang="en-US" sz="1500" dirty="0">
                <a:solidFill>
                  <a:srgbClr val="5B544B"/>
                </a:solidFill>
              </a:rPr>
              <a:t>support@yazilnow.az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685800" y="548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1A2A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685800" y="868680"/>
            <a:ext cx="6675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rgbClr val="1412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Baku, booking a haircut still means a DM — and a wait</a:t>
            </a:r>
            <a:endParaRPr lang="en-US" sz="3600" dirty="0"/>
          </a:p>
        </p:txBody>
      </p:sp>
      <p:sp>
        <p:nvSpPr>
          <p:cNvPr id="5" name="Fact 1 figure"/>
          <p:cNvSpPr txBox="1"/>
          <p:nvPr/>
        </p:nvSpPr>
        <p:spPr>
          <a:xfrm>
            <a:off x="685800" y="244144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6B1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/ 10</a:t>
            </a:r>
            <a:endParaRPr lang="en-US" sz="3800" dirty="0"/>
          </a:p>
        </p:txBody>
      </p:sp>
      <p:sp>
        <p:nvSpPr>
          <p:cNvPr id="6" name="Fact 1"/>
          <p:cNvSpPr txBox="1"/>
          <p:nvPr/>
        </p:nvSpPr>
        <p:spPr>
          <a:xfrm>
            <a:off x="2423160" y="2514600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210"/>
                </a:solidFill>
              </a:rPr>
              <a:t>salons take bookings through WhatsApp, Instagram DMs or phone calls.</a:t>
            </a:r>
            <a:endParaRPr lang="en-US" sz="1500" dirty="0"/>
          </a:p>
        </p:txBody>
      </p:sp>
      <p:sp>
        <p:nvSpPr>
          <p:cNvPr id="7" name="Fact 1 source"/>
          <p:cNvSpPr txBox="1"/>
          <p:nvPr/>
        </p:nvSpPr>
        <p:spPr>
          <a:xfrm>
            <a:off x="2423160" y="311810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478"/>
                </a:solidFill>
              </a:rPr>
              <a:t>Our field check of 37 top-rated Baku salons (Google reviews, Instagram), Oct 2026</a:t>
            </a:r>
            <a:endParaRPr lang="en-US" sz="1000" dirty="0"/>
          </a:p>
        </p:txBody>
      </p:sp>
      <p:sp>
        <p:nvSpPr>
          <p:cNvPr id="8" name="Fact 2 figure"/>
          <p:cNvSpPr txBox="1"/>
          <p:nvPr/>
        </p:nvSpPr>
        <p:spPr>
          <a:xfrm>
            <a:off x="685800" y="3648456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6B1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800" dirty="0"/>
          </a:p>
        </p:txBody>
      </p:sp>
      <p:sp>
        <p:nvSpPr>
          <p:cNvPr id="9" name="Fact 2"/>
          <p:cNvSpPr txBox="1"/>
          <p:nvPr/>
        </p:nvSpPr>
        <p:spPr>
          <a:xfrm>
            <a:off x="2423160" y="3721608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210"/>
                </a:solidFill>
              </a:rPr>
              <a:t>apps show free times across the whole city. Salon tools like DIKIDI or Rezneed each show one salon.</a:t>
            </a:r>
            <a:endParaRPr lang="en-US" sz="1500" dirty="0"/>
          </a:p>
        </p:txBody>
      </p:sp>
      <p:sp>
        <p:nvSpPr>
          <p:cNvPr id="10" name="Fact 2 source"/>
          <p:cNvSpPr txBox="1"/>
          <p:nvPr/>
        </p:nvSpPr>
        <p:spPr>
          <a:xfrm>
            <a:off x="2423160" y="432511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478"/>
                </a:solidFill>
              </a:rPr>
              <a:t>Competitor review: DIKIDI, Arnica, Rezneed, Altegio, YCLIENTS, Fresha, Booksy</a:t>
            </a:r>
            <a:endParaRPr lang="en-US" sz="1000" dirty="0"/>
          </a:p>
        </p:txBody>
      </p:sp>
      <p:sp>
        <p:nvSpPr>
          <p:cNvPr id="11" name="Fact 3 figure"/>
          <p:cNvSpPr txBox="1"/>
          <p:nvPr/>
        </p:nvSpPr>
        <p:spPr>
          <a:xfrm>
            <a:off x="685800" y="4855464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6B1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3800" dirty="0"/>
          </a:p>
        </p:txBody>
      </p:sp>
      <p:sp>
        <p:nvSpPr>
          <p:cNvPr id="12" name="Fact 3"/>
          <p:cNvSpPr txBox="1"/>
          <p:nvPr/>
        </p:nvSpPr>
        <p:spPr>
          <a:xfrm>
            <a:off x="2423160" y="4928616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210"/>
                </a:solidFill>
              </a:rPr>
              <a:t>of a new client’s bill goes to Fresha. Booksy adds $20 a month for every extra master.</a:t>
            </a:r>
            <a:endParaRPr lang="en-US" sz="1500" dirty="0"/>
          </a:p>
        </p:txBody>
      </p:sp>
      <p:sp>
        <p:nvSpPr>
          <p:cNvPr id="13" name="Fact 3 source"/>
          <p:cNvSpPr txBox="1"/>
          <p:nvPr/>
        </p:nvSpPr>
        <p:spPr>
          <a:xfrm>
            <a:off x="2423160" y="553212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478"/>
                </a:solidFill>
              </a:rPr>
              <a:t>Fresha pricing (CostBench), Booksy pricing (Koalendar)</a:t>
            </a:r>
            <a:endParaRPr lang="en-US" sz="1000" dirty="0"/>
          </a:p>
        </p:txBody>
      </p:sp>
      <p:sp>
        <p:nvSpPr>
          <p:cNvPr id="14" name="Chat card"/>
          <p:cNvSpPr/>
          <p:nvPr/>
        </p:nvSpPr>
        <p:spPr>
          <a:xfrm>
            <a:off x="7818120" y="868680"/>
            <a:ext cx="3685032" cy="5074920"/>
          </a:xfrm>
          <a:prstGeom prst="roundRect">
            <a:avLst>
              <a:gd name="adj" fmla="val 6203"/>
            </a:avLst>
          </a:prstGeom>
          <a:solidFill>
            <a:srgbClr val="E7DCC9"/>
          </a:solidFill>
          <a:ln/>
          <a:effectLst>
            <a:outerShdw sx="100000" sy="100000" kx="0" ky="0" algn="bl" rotWithShape="0" blurRad="228600" dist="76200" dir="5400000">
              <a:srgbClr val="2A2015">
                <a:alpha val="22000"/>
              </a:srgbClr>
            </a:outerShdw>
          </a:effectLst>
        </p:spPr>
      </p:sp>
      <p:sp>
        <p:nvSpPr>
          <p:cNvPr id="15" name="Chat header"/>
          <p:cNvSpPr/>
          <p:nvPr/>
        </p:nvSpPr>
        <p:spPr>
          <a:xfrm>
            <a:off x="7818120" y="868680"/>
            <a:ext cx="3685032" cy="685800"/>
          </a:xfrm>
          <a:prstGeom prst="roundRect">
            <a:avLst>
              <a:gd name="adj" fmla="val 33333"/>
            </a:avLst>
          </a:prstGeom>
          <a:solidFill>
            <a:srgbClr val="FBF7F0"/>
          </a:solidFill>
          <a:ln/>
        </p:spPr>
      </p:sp>
      <p:sp>
        <p:nvSpPr>
          <p:cNvPr id="16" name="Shape 13"/>
          <p:cNvSpPr/>
          <p:nvPr/>
        </p:nvSpPr>
        <p:spPr>
          <a:xfrm>
            <a:off x="7818120" y="1325880"/>
            <a:ext cx="3685032" cy="2286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17" name="Shape 14"/>
          <p:cNvSpPr/>
          <p:nvPr/>
        </p:nvSpPr>
        <p:spPr>
          <a:xfrm>
            <a:off x="8019288" y="1005840"/>
            <a:ext cx="384048" cy="384048"/>
          </a:xfrm>
          <a:prstGeom prst="ellipse">
            <a:avLst/>
          </a:prstGeom>
          <a:solidFill>
            <a:srgbClr val="14121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019288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EADD"/>
                </a:solidFill>
              </a:rPr>
              <a:t>S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8531352" y="960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210"/>
                </a:solidFill>
              </a:rPr>
              <a:t>Salon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8C8478"/>
                </a:solidFill>
              </a:rPr>
              <a:t>Instagram DM</a:t>
            </a:r>
            <a:endParaRPr lang="en-US" sz="1500" dirty="0"/>
          </a:p>
        </p:txBody>
      </p:sp>
      <p:sp>
        <p:nvSpPr>
          <p:cNvPr id="20" name="Chat bubble 1"/>
          <p:cNvSpPr/>
          <p:nvPr/>
        </p:nvSpPr>
        <p:spPr>
          <a:xfrm>
            <a:off x="8439912" y="1783080"/>
            <a:ext cx="2834640" cy="749808"/>
          </a:xfrm>
          <a:prstGeom prst="roundRect">
            <a:avLst>
              <a:gd name="adj" fmla="val 19512"/>
            </a:avLst>
          </a:prstGeom>
          <a:solidFill>
            <a:srgbClr val="141210"/>
          </a:solidFill>
          <a:ln/>
        </p:spPr>
      </p:sp>
      <p:sp>
        <p:nvSpPr>
          <p:cNvPr id="21" name="Chat text 1"/>
          <p:cNvSpPr txBox="1"/>
          <p:nvPr/>
        </p:nvSpPr>
        <p:spPr>
          <a:xfrm>
            <a:off x="8604504" y="1783080"/>
            <a:ext cx="25054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ADD"/>
                </a:solidFill>
              </a:rPr>
              <a:t>Salam! Sabah saat 6-da yer var?</a:t>
            </a:r>
            <a:endParaRPr lang="en-US" sz="1400" dirty="0"/>
          </a:p>
        </p:txBody>
      </p:sp>
      <p:sp>
        <p:nvSpPr>
          <p:cNvPr id="22" name="Chat bubble 2"/>
          <p:cNvSpPr/>
          <p:nvPr/>
        </p:nvSpPr>
        <p:spPr>
          <a:xfrm>
            <a:off x="8046720" y="2715768"/>
            <a:ext cx="2546604" cy="502920"/>
          </a:xfrm>
          <a:prstGeom prst="roundRect">
            <a:avLst>
              <a:gd name="adj" fmla="val 29091"/>
            </a:avLst>
          </a:prstGeom>
          <a:solidFill>
            <a:srgbClr val="FFFFFF"/>
          </a:solidFill>
          <a:ln/>
        </p:spPr>
      </p:sp>
      <p:sp>
        <p:nvSpPr>
          <p:cNvPr id="23" name="Chat text 2"/>
          <p:cNvSpPr txBox="1"/>
          <p:nvPr/>
        </p:nvSpPr>
        <p:spPr>
          <a:xfrm>
            <a:off x="8211312" y="2715768"/>
            <a:ext cx="22174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210"/>
                </a:solidFill>
              </a:rPr>
              <a:t>Salam, baxıb yazaram 🙏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8974836" y="3401568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E0D5C2"/>
          </a:solidFill>
          <a:ln/>
        </p:spPr>
      </p:sp>
      <p:sp>
        <p:nvSpPr>
          <p:cNvPr id="25" name="Chat time"/>
          <p:cNvSpPr txBox="1"/>
          <p:nvPr/>
        </p:nvSpPr>
        <p:spPr>
          <a:xfrm>
            <a:off x="8974836" y="340156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544B"/>
                </a:solidFill>
              </a:rPr>
              <a:t>⏱  2 saat sonra</a:t>
            </a:r>
            <a:endParaRPr lang="en-US" sz="1100" dirty="0"/>
          </a:p>
        </p:txBody>
      </p:sp>
      <p:sp>
        <p:nvSpPr>
          <p:cNvPr id="26" name="Chat bubble 4"/>
          <p:cNvSpPr/>
          <p:nvPr/>
        </p:nvSpPr>
        <p:spPr>
          <a:xfrm>
            <a:off x="10378440" y="3904488"/>
            <a:ext cx="896112" cy="502920"/>
          </a:xfrm>
          <a:prstGeom prst="roundRect">
            <a:avLst>
              <a:gd name="adj" fmla="val 29091"/>
            </a:avLst>
          </a:prstGeom>
          <a:solidFill>
            <a:srgbClr val="141210"/>
          </a:solidFill>
          <a:ln/>
        </p:spPr>
      </p:sp>
      <p:sp>
        <p:nvSpPr>
          <p:cNvPr id="27" name="Chat text 4"/>
          <p:cNvSpPr txBox="1"/>
          <p:nvPr/>
        </p:nvSpPr>
        <p:spPr>
          <a:xfrm>
            <a:off x="10543032" y="3904488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ADD"/>
                </a:solidFill>
              </a:rPr>
              <a:t>Bəs?</a:t>
            </a:r>
            <a:endParaRPr lang="en-US" sz="1400" dirty="0"/>
          </a:p>
        </p:txBody>
      </p:sp>
      <p:sp>
        <p:nvSpPr>
          <p:cNvPr id="28" name="Chat bubble 5"/>
          <p:cNvSpPr/>
          <p:nvPr/>
        </p:nvSpPr>
        <p:spPr>
          <a:xfrm>
            <a:off x="8046720" y="4590288"/>
            <a:ext cx="2807208" cy="502920"/>
          </a:xfrm>
          <a:prstGeom prst="roundRect">
            <a:avLst>
              <a:gd name="adj" fmla="val 29091"/>
            </a:avLst>
          </a:prstGeom>
          <a:solidFill>
            <a:srgbClr val="F3E3E4"/>
          </a:solidFill>
          <a:ln/>
        </p:spPr>
      </p:sp>
      <p:sp>
        <p:nvSpPr>
          <p:cNvPr id="29" name="Chat text 5"/>
          <p:cNvSpPr txBox="1"/>
          <p:nvPr/>
        </p:nvSpPr>
        <p:spPr>
          <a:xfrm>
            <a:off x="8211312" y="4590288"/>
            <a:ext cx="2478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1A2A"/>
                </a:solidFill>
              </a:rPr>
              <a:t>Bağışlayın, artıq dolmuşuq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272784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8C8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685800" y="548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1A2A"/>
                </a:solidFill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685800" y="868680"/>
            <a:ext cx="6675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rgbClr val="1412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free time in the city, on one map</a:t>
            </a:r>
            <a:endParaRPr lang="en-US" sz="3600" dirty="0"/>
          </a:p>
        </p:txBody>
      </p:sp>
      <p:sp>
        <p:nvSpPr>
          <p:cNvPr id="5" name="Pillar For clients"/>
          <p:cNvSpPr/>
          <p:nvPr/>
        </p:nvSpPr>
        <p:spPr>
          <a:xfrm>
            <a:off x="685800" y="2514600"/>
            <a:ext cx="2240280" cy="2148840"/>
          </a:xfrm>
          <a:prstGeom prst="roundRect">
            <a:avLst>
              <a:gd name="adj" fmla="val 7660"/>
            </a:avLst>
          </a:prstGeom>
          <a:solidFill>
            <a:srgbClr val="FBF7F0"/>
          </a:solidFill>
          <a:ln w="9525">
            <a:solidFill>
              <a:srgbClr val="E7DCC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86968" y="2697480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1A2A"/>
                </a:solidFill>
              </a:rPr>
              <a:t>FOR CLIENTS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86968" y="3063240"/>
            <a:ext cx="18379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41210"/>
                </a:solidFill>
              </a:rPr>
              <a:t>Live free times across Baku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41210"/>
                </a:solidFill>
              </a:rPr>
              <a:t>Compare salons side by side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41210"/>
                </a:solidFill>
              </a:rPr>
              <a:t>Book in four steps, no calls</a:t>
            </a:r>
            <a:endParaRPr lang="en-US" sz="1400" dirty="0"/>
          </a:p>
        </p:txBody>
      </p:sp>
      <p:sp>
        <p:nvSpPr>
          <p:cNvPr id="8" name="Pillar For salons"/>
          <p:cNvSpPr/>
          <p:nvPr/>
        </p:nvSpPr>
        <p:spPr>
          <a:xfrm>
            <a:off x="3127248" y="2514600"/>
            <a:ext cx="2240280" cy="2148840"/>
          </a:xfrm>
          <a:prstGeom prst="roundRect">
            <a:avLst>
              <a:gd name="adj" fmla="val 7660"/>
            </a:avLst>
          </a:prstGeom>
          <a:solidFill>
            <a:srgbClr val="FBF7F0"/>
          </a:solidFill>
          <a:ln w="9525">
            <a:solidFill>
              <a:srgbClr val="E7DCC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28416" y="2697480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1A2A"/>
                </a:solidFill>
              </a:rPr>
              <a:t>FOR SALONS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328416" y="3063240"/>
            <a:ext cx="18379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41210"/>
                </a:solidFill>
              </a:rPr>
              <a:t>One flat monthly price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41210"/>
                </a:solidFill>
              </a:rPr>
              <a:t>Unlimited masters, 0% commission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41210"/>
                </a:solidFill>
              </a:rPr>
              <a:t>Clients find them on the map</a:t>
            </a:r>
            <a:endParaRPr lang="en-US" sz="1400" dirty="0"/>
          </a:p>
        </p:txBody>
      </p:sp>
      <p:sp>
        <p:nvSpPr>
          <p:cNvPr id="11" name="Pillar Trust"/>
          <p:cNvSpPr/>
          <p:nvPr/>
        </p:nvSpPr>
        <p:spPr>
          <a:xfrm>
            <a:off x="5568696" y="2514600"/>
            <a:ext cx="2240280" cy="2148840"/>
          </a:xfrm>
          <a:prstGeom prst="roundRect">
            <a:avLst>
              <a:gd name="adj" fmla="val 7660"/>
            </a:avLst>
          </a:prstGeom>
          <a:solidFill>
            <a:srgbClr val="FBF7F0"/>
          </a:solidFill>
          <a:ln w="9525">
            <a:solidFill>
              <a:srgbClr val="E7DCC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769864" y="2697480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1A2A"/>
                </a:solidFill>
              </a:rPr>
              <a:t>TRUST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769864" y="3063240"/>
            <a:ext cx="18379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41210"/>
                </a:solidFill>
              </a:rPr>
              <a:t>Reviews only after a real visit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41210"/>
                </a:solidFill>
              </a:rPr>
              <a:t>One-time QR codes at the chair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41210"/>
                </a:solidFill>
              </a:rPr>
              <a:t>Azerbaijani, Russian, English</a:t>
            </a:r>
            <a:endParaRPr lang="en-US" sz="1400" dirty="0"/>
          </a:p>
        </p:txBody>
      </p:sp>
      <p:sp>
        <p:nvSpPr>
          <p:cNvPr id="14" name="What nobody else does"/>
          <p:cNvSpPr txBox="1"/>
          <p:nvPr/>
        </p:nvSpPr>
        <p:spPr>
          <a:xfrm>
            <a:off x="685800" y="498348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1412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City-wide free-time search and side-by-side comparison: none of the nine booking tools we checked in Baku offer them.</a:t>
            </a:r>
            <a:endParaRPr lang="en-US" sz="1700" dirty="0"/>
          </a:p>
        </p:txBody>
      </p:sp>
      <p:pic>
        <p:nvPicPr>
          <p:cNvPr id="15" name="Phone find" descr="App screen: fi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180000">
            <a:off x="8001000" y="1325880"/>
            <a:ext cx="1920240" cy="3947656"/>
          </a:xfrm>
          <a:prstGeom prst="rect">
            <a:avLst/>
          </a:prstGeom>
        </p:spPr>
      </p:pic>
      <p:pic>
        <p:nvPicPr>
          <p:cNvPr id="16" name="Phone map" descr="App screen: ma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20000">
            <a:off x="9464040" y="868680"/>
            <a:ext cx="1920240" cy="394765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272784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8C8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685800" y="548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1A2A"/>
                </a:solidFill>
              </a:rPr>
              <a:t>PRODUCT · FOR CLIENTS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685800" y="868680"/>
            <a:ext cx="6675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rgbClr val="1412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Find, compare, book</a:t>
            </a:r>
            <a:endParaRPr lang="en-US" sz="3600" dirty="0"/>
          </a:p>
        </p:txBody>
      </p:sp>
      <p:pic>
        <p:nvPicPr>
          <p:cNvPr id="5" name="Phone rec-browse" descr="App screen: rec-brow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65960"/>
            <a:ext cx="1664208" cy="342130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85800" y="5460414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478"/>
                </a:solidFill>
              </a:rPr>
              <a:t>Home</a:t>
            </a:r>
            <a:endParaRPr lang="en-US" sz="1100" dirty="0"/>
          </a:p>
        </p:txBody>
      </p:sp>
      <p:pic>
        <p:nvPicPr>
          <p:cNvPr id="7" name="Phone salon" descr="App screen: sal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2130552"/>
            <a:ext cx="1664208" cy="3421302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2514600" y="5625006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478"/>
                </a:solidFill>
              </a:rPr>
              <a:t>Salon</a:t>
            </a:r>
            <a:endParaRPr lang="en-US" sz="1100" dirty="0"/>
          </a:p>
        </p:txBody>
      </p:sp>
      <p:pic>
        <p:nvPicPr>
          <p:cNvPr id="9" name="Phone book" descr="App screen: boo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965960"/>
            <a:ext cx="1664208" cy="3421302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4343400" y="5460414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478"/>
                </a:solidFill>
              </a:rPr>
              <a:t>Booking</a:t>
            </a:r>
            <a:endParaRPr lang="en-US" sz="1100" dirty="0"/>
          </a:p>
        </p:txBody>
      </p:sp>
      <p:pic>
        <p:nvPicPr>
          <p:cNvPr id="11" name="Phone compare" descr="App screen: compar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130552"/>
            <a:ext cx="1664208" cy="3421302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6172200" y="5625006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478"/>
                </a:solidFill>
              </a:rPr>
              <a:t>Compare</a:t>
            </a:r>
            <a:endParaRPr lang="en-US" sz="1100" dirty="0"/>
          </a:p>
        </p:txBody>
      </p:sp>
      <p:sp>
        <p:nvSpPr>
          <p:cNvPr id="13" name="Text 6"/>
          <p:cNvSpPr txBox="1"/>
          <p:nvPr/>
        </p:nvSpPr>
        <p:spPr>
          <a:xfrm>
            <a:off x="8229600" y="203911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1A2A"/>
                </a:solidFill>
              </a:rPr>
              <a:t>01</a:t>
            </a:r>
            <a:endParaRPr lang="en-US" sz="1200" dirty="0"/>
          </a:p>
        </p:txBody>
      </p:sp>
      <p:sp>
        <p:nvSpPr>
          <p:cNvPr id="14" name="Feature Free times today"/>
          <p:cNvSpPr txBox="1"/>
          <p:nvPr/>
        </p:nvSpPr>
        <p:spPr>
          <a:xfrm>
            <a:off x="8641080" y="201168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210"/>
                </a:solidFill>
              </a:rPr>
              <a:t>Free times today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544B"/>
                </a:solidFill>
              </a:rPr>
              <a:t>The nearest open slots in the city, for the service you want.</a:t>
            </a:r>
            <a:endParaRPr lang="en-US" sz="1500" dirty="0"/>
          </a:p>
        </p:txBody>
      </p:sp>
      <p:sp>
        <p:nvSpPr>
          <p:cNvPr id="15" name="Text 8"/>
          <p:cNvSpPr txBox="1"/>
          <p:nvPr/>
        </p:nvSpPr>
        <p:spPr>
          <a:xfrm>
            <a:off x="8229600" y="3026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1A2A"/>
                </a:solidFill>
              </a:rPr>
              <a:t>02</a:t>
            </a:r>
            <a:endParaRPr lang="en-US" sz="1200" dirty="0"/>
          </a:p>
        </p:txBody>
      </p:sp>
      <p:sp>
        <p:nvSpPr>
          <p:cNvPr id="16" name="Feature Map and filters"/>
          <p:cNvSpPr txBox="1"/>
          <p:nvPr/>
        </p:nvSpPr>
        <p:spPr>
          <a:xfrm>
            <a:off x="8641080" y="2999232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210"/>
                </a:solidFill>
              </a:rPr>
              <a:t>Map and filters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544B"/>
                </a:solidFill>
              </a:rPr>
              <a:t>Price range, rating, distance, women-only salons, English-speaking masters.</a:t>
            </a:r>
            <a:endParaRPr lang="en-US" sz="1500" dirty="0"/>
          </a:p>
        </p:txBody>
      </p:sp>
      <p:sp>
        <p:nvSpPr>
          <p:cNvPr id="17" name="Text 10"/>
          <p:cNvSpPr txBox="1"/>
          <p:nvPr/>
        </p:nvSpPr>
        <p:spPr>
          <a:xfrm>
            <a:off x="8229600" y="40142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1A2A"/>
                </a:solidFill>
              </a:rPr>
              <a:t>03</a:t>
            </a:r>
            <a:endParaRPr lang="en-US" sz="1200" dirty="0"/>
          </a:p>
        </p:txBody>
      </p:sp>
      <p:sp>
        <p:nvSpPr>
          <p:cNvPr id="18" name="Feature Compare"/>
          <p:cNvSpPr txBox="1"/>
          <p:nvPr/>
        </p:nvSpPr>
        <p:spPr>
          <a:xfrm>
            <a:off x="8641080" y="3986784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210"/>
                </a:solidFill>
              </a:rPr>
              <a:t>Compare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544B"/>
                </a:solidFill>
              </a:rPr>
              <a:t>Up to three salons: price, rating, distance and next free time.</a:t>
            </a:r>
            <a:endParaRPr lang="en-US" sz="1500" dirty="0"/>
          </a:p>
        </p:txBody>
      </p:sp>
      <p:sp>
        <p:nvSpPr>
          <p:cNvPr id="19" name="Text 12"/>
          <p:cNvSpPr txBox="1"/>
          <p:nvPr/>
        </p:nvSpPr>
        <p:spPr>
          <a:xfrm>
            <a:off x="8229600" y="50017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1A2A"/>
                </a:solidFill>
              </a:rPr>
              <a:t>04</a:t>
            </a:r>
            <a:endParaRPr lang="en-US" sz="1200" dirty="0"/>
          </a:p>
        </p:txBody>
      </p:sp>
      <p:sp>
        <p:nvSpPr>
          <p:cNvPr id="20" name="Feature Book"/>
          <p:cNvSpPr txBox="1"/>
          <p:nvPr/>
        </p:nvSpPr>
        <p:spPr>
          <a:xfrm>
            <a:off x="8641080" y="4974336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210"/>
                </a:solidFill>
              </a:rPr>
              <a:t>Book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544B"/>
                </a:solidFill>
              </a:rPr>
              <a:t>Services, master, day, time. Reminders 24 h and 2 h before.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272784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8C8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685800" y="548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1A2A"/>
                </a:solidFill>
              </a:rPr>
              <a:t>PRODUCT · FOR SALONS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685800" y="868680"/>
            <a:ext cx="6675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rgbClr val="1412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salon panel, not a CRM to learn</a:t>
            </a:r>
            <a:endParaRPr lang="en-US" sz="3600" dirty="0"/>
          </a:p>
        </p:txBody>
      </p:sp>
      <p:sp>
        <p:nvSpPr>
          <p:cNvPr id="5" name="Tick 1"/>
          <p:cNvSpPr/>
          <p:nvPr/>
        </p:nvSpPr>
        <p:spPr>
          <a:xfrm>
            <a:off x="685800" y="2542032"/>
            <a:ext cx="237744" cy="237744"/>
          </a:xfrm>
          <a:prstGeom prst="ellipse">
            <a:avLst/>
          </a:prstGeom>
          <a:solidFill>
            <a:srgbClr val="14121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85800" y="25328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EADD"/>
                </a:solidFill>
              </a:rPr>
              <a:t>✓</a:t>
            </a:r>
            <a:endParaRPr lang="en-US" sz="1100" dirty="0"/>
          </a:p>
        </p:txBody>
      </p:sp>
      <p:sp>
        <p:nvSpPr>
          <p:cNvPr id="7" name="Salon feature 1"/>
          <p:cNvSpPr txBox="1"/>
          <p:nvPr/>
        </p:nvSpPr>
        <p:spPr>
          <a:xfrm>
            <a:off x="1069848" y="251460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210"/>
                </a:solidFill>
              </a:rPr>
              <a:t>Calendar, walk-ins and time off</a:t>
            </a:r>
            <a:endParaRPr lang="en-US" sz="1600" dirty="0"/>
          </a:p>
        </p:txBody>
      </p:sp>
      <p:sp>
        <p:nvSpPr>
          <p:cNvPr id="8" name="Tick 2"/>
          <p:cNvSpPr/>
          <p:nvPr/>
        </p:nvSpPr>
        <p:spPr>
          <a:xfrm>
            <a:off x="685800" y="2999232"/>
            <a:ext cx="237744" cy="237744"/>
          </a:xfrm>
          <a:prstGeom prst="ellipse">
            <a:avLst/>
          </a:prstGeom>
          <a:solidFill>
            <a:srgbClr val="14121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29900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EADD"/>
                </a:solidFill>
              </a:rPr>
              <a:t>✓</a:t>
            </a:r>
            <a:endParaRPr lang="en-US" sz="1100" dirty="0"/>
          </a:p>
        </p:txBody>
      </p:sp>
      <p:sp>
        <p:nvSpPr>
          <p:cNvPr id="10" name="Salon feature 2"/>
          <p:cNvSpPr txBox="1"/>
          <p:nvPr/>
        </p:nvSpPr>
        <p:spPr>
          <a:xfrm>
            <a:off x="1069848" y="297180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210"/>
                </a:solidFill>
              </a:rPr>
              <a:t>Masters and services — no per-seat fees</a:t>
            </a:r>
            <a:endParaRPr lang="en-US" sz="1600" dirty="0"/>
          </a:p>
        </p:txBody>
      </p:sp>
      <p:sp>
        <p:nvSpPr>
          <p:cNvPr id="11" name="Tick 3"/>
          <p:cNvSpPr/>
          <p:nvPr/>
        </p:nvSpPr>
        <p:spPr>
          <a:xfrm>
            <a:off x="685800" y="3456432"/>
            <a:ext cx="237744" cy="237744"/>
          </a:xfrm>
          <a:prstGeom prst="ellipse">
            <a:avLst/>
          </a:prstGeom>
          <a:solidFill>
            <a:srgbClr val="14121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85800" y="34472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EADD"/>
                </a:solidFill>
              </a:rPr>
              <a:t>✓</a:t>
            </a:r>
            <a:endParaRPr lang="en-US" sz="1100" dirty="0"/>
          </a:p>
        </p:txBody>
      </p:sp>
      <p:sp>
        <p:nvSpPr>
          <p:cNvPr id="13" name="Salon feature 3"/>
          <p:cNvSpPr txBox="1"/>
          <p:nvPr/>
        </p:nvSpPr>
        <p:spPr>
          <a:xfrm>
            <a:off x="1069848" y="342900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210"/>
                </a:solidFill>
              </a:rPr>
              <a:t>One-time QR codes for reviews</a:t>
            </a:r>
            <a:endParaRPr lang="en-US" sz="1600" dirty="0"/>
          </a:p>
        </p:txBody>
      </p:sp>
      <p:sp>
        <p:nvSpPr>
          <p:cNvPr id="14" name="Tick 4"/>
          <p:cNvSpPr/>
          <p:nvPr/>
        </p:nvSpPr>
        <p:spPr>
          <a:xfrm>
            <a:off x="685800" y="3913632"/>
            <a:ext cx="237744" cy="237744"/>
          </a:xfrm>
          <a:prstGeom prst="ellipse">
            <a:avLst/>
          </a:prstGeom>
          <a:solidFill>
            <a:srgbClr val="14121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85800" y="39044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EADD"/>
                </a:solidFill>
              </a:rPr>
              <a:t>✓</a:t>
            </a:r>
            <a:endParaRPr lang="en-US" sz="1100" dirty="0"/>
          </a:p>
        </p:txBody>
      </p:sp>
      <p:sp>
        <p:nvSpPr>
          <p:cNvPr id="16" name="Salon feature 4"/>
          <p:cNvSpPr txBox="1"/>
          <p:nvPr/>
        </p:nvSpPr>
        <p:spPr>
          <a:xfrm>
            <a:off x="1069848" y="388620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210"/>
                </a:solidFill>
              </a:rPr>
              <a:t>Statistics and a monthly click report</a:t>
            </a:r>
            <a:endParaRPr lang="en-US" sz="1600" dirty="0"/>
          </a:p>
        </p:txBody>
      </p:sp>
      <p:sp>
        <p:nvSpPr>
          <p:cNvPr id="17" name="Tick 5"/>
          <p:cNvSpPr/>
          <p:nvPr/>
        </p:nvSpPr>
        <p:spPr>
          <a:xfrm>
            <a:off x="685800" y="4370832"/>
            <a:ext cx="237744" cy="237744"/>
          </a:xfrm>
          <a:prstGeom prst="ellipse">
            <a:avLst/>
          </a:prstGeom>
          <a:solidFill>
            <a:srgbClr val="14121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85800" y="43616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EADD"/>
                </a:solidFill>
              </a:rPr>
              <a:t>✓</a:t>
            </a:r>
            <a:endParaRPr lang="en-US" sz="1100" dirty="0"/>
          </a:p>
        </p:txBody>
      </p:sp>
      <p:sp>
        <p:nvSpPr>
          <p:cNvPr id="19" name="Salon feature 5"/>
          <p:cNvSpPr txBox="1"/>
          <p:nvPr/>
        </p:nvSpPr>
        <p:spPr>
          <a:xfrm>
            <a:off x="1069848" y="434340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210"/>
                </a:solidFill>
              </a:rPr>
              <a:t>Branches and manager roles (Pro)</a:t>
            </a:r>
            <a:endParaRPr lang="en-US" sz="1600" dirty="0"/>
          </a:p>
        </p:txBody>
      </p:sp>
      <p:sp>
        <p:nvSpPr>
          <p:cNvPr id="20" name="Tick 6"/>
          <p:cNvSpPr/>
          <p:nvPr/>
        </p:nvSpPr>
        <p:spPr>
          <a:xfrm>
            <a:off x="685800" y="4828032"/>
            <a:ext cx="237744" cy="237744"/>
          </a:xfrm>
          <a:prstGeom prst="ellipse">
            <a:avLst/>
          </a:prstGeom>
          <a:solidFill>
            <a:srgbClr val="14121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5800" y="48188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EADD"/>
                </a:solidFill>
              </a:rPr>
              <a:t>✓</a:t>
            </a:r>
            <a:endParaRPr lang="en-US" sz="1100" dirty="0"/>
          </a:p>
        </p:txBody>
      </p:sp>
      <p:sp>
        <p:nvSpPr>
          <p:cNvPr id="22" name="Salon feature 6"/>
          <p:cNvSpPr txBox="1"/>
          <p:nvPr/>
        </p:nvSpPr>
        <p:spPr>
          <a:xfrm>
            <a:off x="1069848" y="480060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210"/>
                </a:solidFill>
              </a:rPr>
              <a:t>Deposits and a waitlist (Pro)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685800" y="54406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44B"/>
                </a:solidFill>
              </a:rPr>
              <a:t>Runs in the app and in any browser.</a:t>
            </a:r>
            <a:endParaRPr lang="en-US" sz="1500" dirty="0"/>
          </a:p>
        </p:txBody>
      </p:sp>
      <p:pic>
        <p:nvPicPr>
          <p:cNvPr id="24" name="Phone rec-trial" descr="App screen: rec-tri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234440"/>
            <a:ext cx="1965960" cy="4041648"/>
          </a:xfrm>
          <a:prstGeom prst="rect">
            <a:avLst/>
          </a:prstGeom>
        </p:spPr>
      </p:pic>
      <p:pic>
        <p:nvPicPr>
          <p:cNvPr id="25" name="Phone qr" descr="App screen: q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20000">
            <a:off x="9555480" y="868680"/>
            <a:ext cx="1828800" cy="375967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272784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8C8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685800" y="548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1A2A"/>
                </a:solidFill>
              </a:rPr>
              <a:t>BETA TEST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685800" y="868680"/>
            <a:ext cx="6675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rgbClr val="1412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people used it on our test server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600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544B"/>
                </a:solidFill>
              </a:rPr>
              <a:t>Anonymous. Three clients, one salon owner, one barber.</a:t>
            </a:r>
            <a:endParaRPr lang="en-US" sz="1600" dirty="0"/>
          </a:p>
        </p:txBody>
      </p:sp>
      <p:sp>
        <p:nvSpPr>
          <p:cNvPr id="6" name="Tester 1"/>
          <p:cNvSpPr/>
          <p:nvPr/>
        </p:nvSpPr>
        <p:spPr>
          <a:xfrm>
            <a:off x="685800" y="2286000"/>
            <a:ext cx="3454298" cy="1600200"/>
          </a:xfrm>
          <a:prstGeom prst="roundRect">
            <a:avLst>
              <a:gd name="adj" fmla="val 10286"/>
            </a:avLst>
          </a:prstGeom>
          <a:solidFill>
            <a:srgbClr val="FBF7F0"/>
          </a:solidFill>
          <a:ln w="9525">
            <a:solidFill>
              <a:srgbClr val="E7DCC9"/>
            </a:solidFill>
            <a:prstDash val="solid"/>
          </a:ln>
        </p:spPr>
      </p:sp>
      <p:sp>
        <p:nvSpPr>
          <p:cNvPr id="7" name="Tester 1 note"/>
          <p:cNvSpPr txBox="1"/>
          <p:nvPr/>
        </p:nvSpPr>
        <p:spPr>
          <a:xfrm>
            <a:off x="914400" y="2468880"/>
            <a:ext cx="299709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12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saw three free times at once instead of messaging three salons.”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520440"/>
            <a:ext cx="29970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1A2A"/>
                </a:solidFill>
              </a:rPr>
              <a:t>TESTER 1 · CLIENT</a:t>
            </a:r>
            <a:endParaRPr lang="en-US" sz="1000" dirty="0"/>
          </a:p>
        </p:txBody>
      </p:sp>
      <p:sp>
        <p:nvSpPr>
          <p:cNvPr id="9" name="Tester 2"/>
          <p:cNvSpPr/>
          <p:nvPr/>
        </p:nvSpPr>
        <p:spPr>
          <a:xfrm>
            <a:off x="4368698" y="2286000"/>
            <a:ext cx="3454298" cy="1600200"/>
          </a:xfrm>
          <a:prstGeom prst="roundRect">
            <a:avLst>
              <a:gd name="adj" fmla="val 10286"/>
            </a:avLst>
          </a:prstGeom>
          <a:solidFill>
            <a:srgbClr val="FBF7F0"/>
          </a:solidFill>
          <a:ln w="9525">
            <a:solidFill>
              <a:srgbClr val="E7DCC9"/>
            </a:solidFill>
            <a:prstDash val="solid"/>
          </a:ln>
        </p:spPr>
      </p:sp>
      <p:sp>
        <p:nvSpPr>
          <p:cNvPr id="10" name="Tester 2 note"/>
          <p:cNvSpPr txBox="1"/>
          <p:nvPr/>
        </p:nvSpPr>
        <p:spPr>
          <a:xfrm>
            <a:off x="4597298" y="2468880"/>
            <a:ext cx="299709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12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“Comparing prices side by side made the choice quick. I’d like more photos of the work.”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597298" y="3520440"/>
            <a:ext cx="29970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1A2A"/>
                </a:solidFill>
              </a:rPr>
              <a:t>TESTER 2 · CLIENT</a:t>
            </a:r>
            <a:endParaRPr lang="en-US" sz="1000" dirty="0"/>
          </a:p>
        </p:txBody>
      </p:sp>
      <p:sp>
        <p:nvSpPr>
          <p:cNvPr id="12" name="Tester 3"/>
          <p:cNvSpPr/>
          <p:nvPr/>
        </p:nvSpPr>
        <p:spPr>
          <a:xfrm>
            <a:off x="8051597" y="2286000"/>
            <a:ext cx="3454298" cy="1600200"/>
          </a:xfrm>
          <a:prstGeom prst="roundRect">
            <a:avLst>
              <a:gd name="adj" fmla="val 10286"/>
            </a:avLst>
          </a:prstGeom>
          <a:solidFill>
            <a:srgbClr val="FBF7F0"/>
          </a:solidFill>
          <a:ln w="9525">
            <a:solidFill>
              <a:srgbClr val="E7DCC9"/>
            </a:solidFill>
            <a:prstDash val="solid"/>
          </a:ln>
        </p:spPr>
      </p:sp>
      <p:sp>
        <p:nvSpPr>
          <p:cNvPr id="13" name="Tester 3 note"/>
          <p:cNvSpPr txBox="1"/>
          <p:nvPr/>
        </p:nvSpPr>
        <p:spPr>
          <a:xfrm>
            <a:off x="8280197" y="2468880"/>
            <a:ext cx="299709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12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“Adding masters and hours took a few minutes. I want reminders to go out on WhatsApp.”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280197" y="3520440"/>
            <a:ext cx="29970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1A2A"/>
                </a:solidFill>
              </a:rPr>
              <a:t>TESTER 3 · SALON OWNER</a:t>
            </a:r>
            <a:endParaRPr lang="en-US" sz="1000" dirty="0"/>
          </a:p>
        </p:txBody>
      </p:sp>
      <p:sp>
        <p:nvSpPr>
          <p:cNvPr id="15" name="Tester 4"/>
          <p:cNvSpPr/>
          <p:nvPr/>
        </p:nvSpPr>
        <p:spPr>
          <a:xfrm>
            <a:off x="2527249" y="4114800"/>
            <a:ext cx="3454298" cy="1600200"/>
          </a:xfrm>
          <a:prstGeom prst="roundRect">
            <a:avLst>
              <a:gd name="adj" fmla="val 10286"/>
            </a:avLst>
          </a:prstGeom>
          <a:solidFill>
            <a:srgbClr val="FBF7F0"/>
          </a:solidFill>
          <a:ln w="9525">
            <a:solidFill>
              <a:srgbClr val="E7DCC9"/>
            </a:solidFill>
            <a:prstDash val="solid"/>
          </a:ln>
        </p:spPr>
      </p:sp>
      <p:sp>
        <p:nvSpPr>
          <p:cNvPr id="16" name="Tester 4 note"/>
          <p:cNvSpPr txBox="1"/>
          <p:nvPr/>
        </p:nvSpPr>
        <p:spPr>
          <a:xfrm>
            <a:off x="2755849" y="4297680"/>
            <a:ext cx="299709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12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QR review is easy — clients did it before leaving the chair.”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2755849" y="5349240"/>
            <a:ext cx="29970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1A2A"/>
                </a:solidFill>
              </a:rPr>
              <a:t>TESTER 4 · BARBER</a:t>
            </a:r>
            <a:endParaRPr lang="en-US" sz="1000" dirty="0"/>
          </a:p>
        </p:txBody>
      </p:sp>
      <p:sp>
        <p:nvSpPr>
          <p:cNvPr id="18" name="Tester 5"/>
          <p:cNvSpPr/>
          <p:nvPr/>
        </p:nvSpPr>
        <p:spPr>
          <a:xfrm>
            <a:off x="6210148" y="4114800"/>
            <a:ext cx="3454298" cy="1600200"/>
          </a:xfrm>
          <a:prstGeom prst="roundRect">
            <a:avLst>
              <a:gd name="adj" fmla="val 10286"/>
            </a:avLst>
          </a:prstGeom>
          <a:solidFill>
            <a:srgbClr val="FBF7F0"/>
          </a:solidFill>
          <a:ln w="9525">
            <a:solidFill>
              <a:srgbClr val="E7DCC9"/>
            </a:solidFill>
            <a:prstDash val="solid"/>
          </a:ln>
        </p:spPr>
      </p:sp>
      <p:sp>
        <p:nvSpPr>
          <p:cNvPr id="19" name="Tester 5 note"/>
          <p:cNvSpPr txBox="1"/>
          <p:nvPr/>
        </p:nvSpPr>
        <p:spPr>
          <a:xfrm>
            <a:off x="6438748" y="4297680"/>
            <a:ext cx="299709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12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“Booking in Azerbaijani felt natural. The reminder before the visit helped.”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438748" y="5349240"/>
            <a:ext cx="29970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1A2A"/>
                </a:solidFill>
              </a:rPr>
              <a:t>TESTER 5 · CLIENT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272784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8C8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685800" y="548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1A2A"/>
                </a:solidFill>
              </a:rPr>
              <a:t>MARKET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685800" y="868680"/>
            <a:ext cx="6675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rgbClr val="1412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Baku’s salons have tools for themselves. Clients have nothing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23774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1A2A"/>
                </a:solidFill>
              </a:rPr>
              <a:t>WHERE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63347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210"/>
                </a:solidFill>
              </a:rPr>
              <a:t>Baku first — about 2.3 million people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92608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478"/>
                </a:solidFill>
              </a:rPr>
              <a:t>State Statistics Committee of Azerbaijan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2461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1A2A"/>
                </a:solidFill>
              </a:rPr>
              <a:t>SALONS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50215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210"/>
                </a:solidFill>
              </a:rPr>
              <a:t>Barbershops, hair and beauty salons, nail and brow studios, spa, makeup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41148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1A2A"/>
                </a:solidFill>
              </a:rPr>
              <a:t>CLIENTS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437083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210"/>
                </a:solidFill>
              </a:rPr>
              <a:t>People who book by DM today, and visitors who need English and clear prices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50292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1412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market already moved booking online — into messengers. The client side is still empty.</a:t>
            </a:r>
            <a:endParaRPr lang="en-US" sz="1600" dirty="0"/>
          </a:p>
        </p:txBody>
      </p:sp>
      <p:sp>
        <p:nvSpPr>
          <p:cNvPr id="13" name="Chart card"/>
          <p:cNvSpPr/>
          <p:nvPr/>
        </p:nvSpPr>
        <p:spPr>
          <a:xfrm>
            <a:off x="5897880" y="2240280"/>
            <a:ext cx="5608015" cy="3703320"/>
          </a:xfrm>
          <a:prstGeom prst="roundRect">
            <a:avLst>
              <a:gd name="adj" fmla="val 4444"/>
            </a:avLst>
          </a:prstGeom>
          <a:solidFill>
            <a:srgbClr val="FBF7F0"/>
          </a:solidFill>
          <a:ln w="9525">
            <a:solidFill>
              <a:srgbClr val="E7DCC9"/>
            </a:solidFill>
            <a:prstDash val="solid"/>
          </a:ln>
        </p:spPr>
      </p:sp>
      <p:graphicFrame>
        <p:nvGraphicFramePr>
          <p:cNvPr id="14" name="Price chart" descr=""/>
          <p:cNvGraphicFramePr/>
          <p:nvPr/>
        </p:nvGraphicFramePr>
        <p:xfrm>
          <a:off x="6080760" y="2377440"/>
          <a:ext cx="5242255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1"/>
          <p:cNvSpPr txBox="1"/>
          <p:nvPr/>
        </p:nvSpPr>
        <p:spPr>
          <a:xfrm>
            <a:off x="6126480" y="5029200"/>
            <a:ext cx="5150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544B"/>
                </a:solidFill>
              </a:rPr>
              <a:t>Booksy: $29.99 + $20 per extra master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544B"/>
                </a:solidFill>
              </a:rPr>
              <a:t>Fresha: $14.95 per master + 20% of new clients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544B"/>
                </a:solidFill>
              </a:rPr>
              <a:t>yazılnow Pro: flat, branches and deposits included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544B"/>
                </a:solidFill>
              </a:rPr>
              <a:t>yazılnow Start: flat, unlimited masters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6126480" y="5669280"/>
            <a:ext cx="51508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478"/>
                </a:solidFill>
              </a:rPr>
              <a:t>Fresha (CostBench), Booksy (Koalendar); our prices from the app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272784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8C8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685800" y="548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1A2A"/>
                </a:solidFill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685800" y="868680"/>
            <a:ext cx="6675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rgbClr val="1412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flat monthly plan. No commission</a:t>
            </a:r>
            <a:endParaRPr lang="en-US" sz="3600" dirty="0"/>
          </a:p>
        </p:txBody>
      </p:sp>
      <p:sp>
        <p:nvSpPr>
          <p:cNvPr id="5" name="Plan Sadə"/>
          <p:cNvSpPr/>
          <p:nvPr/>
        </p:nvSpPr>
        <p:spPr>
          <a:xfrm>
            <a:off x="685800" y="2011680"/>
            <a:ext cx="3454298" cy="3246120"/>
          </a:xfrm>
          <a:prstGeom prst="roundRect">
            <a:avLst>
              <a:gd name="adj" fmla="val 5070"/>
            </a:avLst>
          </a:prstGeom>
          <a:solidFill>
            <a:srgbClr val="FBF7F0"/>
          </a:solidFill>
          <a:ln w="9525">
            <a:solidFill>
              <a:srgbClr val="E7DCC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60120" y="22677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412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Sadə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2834640"/>
            <a:ext cx="2905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141210"/>
                </a:solidFill>
              </a:rPr>
              <a:t>10 ₼</a:t>
            </a:r>
            <a:pPr indent="0" marL="0">
              <a:buNone/>
            </a:pPr>
            <a:r>
              <a:rPr lang="en-US" sz="1300" dirty="0">
                <a:solidFill>
                  <a:srgbClr val="8C8478"/>
                </a:solidFill>
              </a:rPr>
              <a:t>  / month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657600"/>
            <a:ext cx="29513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41210"/>
                </a:solidFill>
              </a:rPr>
              <a:t>On the map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41210"/>
                </a:solidFill>
              </a:rPr>
              <a:t>QR reviews and replies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41210"/>
                </a:solidFill>
              </a:rPr>
              <a:t>“Book” button to the salon’s own page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41210"/>
                </a:solidFill>
              </a:rPr>
              <a:t>Monthly click report</a:t>
            </a:r>
            <a:endParaRPr lang="en-US" sz="1400" dirty="0"/>
          </a:p>
        </p:txBody>
      </p:sp>
      <p:sp>
        <p:nvSpPr>
          <p:cNvPr id="9" name="Plan Start"/>
          <p:cNvSpPr/>
          <p:nvPr/>
        </p:nvSpPr>
        <p:spPr>
          <a:xfrm>
            <a:off x="4368698" y="2011680"/>
            <a:ext cx="3454298" cy="3246120"/>
          </a:xfrm>
          <a:prstGeom prst="roundRect">
            <a:avLst>
              <a:gd name="adj" fmla="val 5070"/>
            </a:avLst>
          </a:prstGeom>
          <a:solidFill>
            <a:srgbClr val="FBF7F0"/>
          </a:solidFill>
          <a:ln w="9525">
            <a:solidFill>
              <a:srgbClr val="E7DCC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43018" y="22677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412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643018" y="2834640"/>
            <a:ext cx="2905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141210"/>
                </a:solidFill>
              </a:rPr>
              <a:t>29 ₼</a:t>
            </a:r>
            <a:pPr indent="0" marL="0">
              <a:buNone/>
            </a:pPr>
            <a:r>
              <a:rPr lang="en-US" sz="1300" dirty="0">
                <a:solidFill>
                  <a:srgbClr val="8C8478"/>
                </a:solidFill>
              </a:rPr>
              <a:t>  / month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643018" y="3657600"/>
            <a:ext cx="29513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41210"/>
                </a:solidFill>
              </a:rPr>
              <a:t>Everything in Sadə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41210"/>
                </a:solidFill>
              </a:rPr>
              <a:t>Online booking and calendar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41210"/>
                </a:solidFill>
              </a:rPr>
              <a:t>Unlimited masters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41210"/>
                </a:solidFill>
              </a:rPr>
              <a:t>Reminders for clients</a:t>
            </a:r>
            <a:endParaRPr lang="en-US" sz="1400" dirty="0"/>
          </a:p>
        </p:txBody>
      </p:sp>
      <p:sp>
        <p:nvSpPr>
          <p:cNvPr id="13" name="Plan Pro"/>
          <p:cNvSpPr/>
          <p:nvPr/>
        </p:nvSpPr>
        <p:spPr>
          <a:xfrm>
            <a:off x="8051597" y="2011680"/>
            <a:ext cx="3454298" cy="3246120"/>
          </a:xfrm>
          <a:prstGeom prst="roundRect">
            <a:avLst>
              <a:gd name="adj" fmla="val 5070"/>
            </a:avLst>
          </a:prstGeom>
          <a:solidFill>
            <a:srgbClr val="141210"/>
          </a:solidFill>
          <a:ln w="9525">
            <a:solidFill>
              <a:srgbClr val="E7DCC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325917" y="22677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2EA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9997135" y="2313432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6B1A2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997135" y="231343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2EADD"/>
                </a:solidFill>
              </a:rPr>
              <a:t>RECOMMENDED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8325917" y="2834640"/>
            <a:ext cx="2905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2EADD"/>
                </a:solidFill>
              </a:rPr>
              <a:t>49 ₼</a:t>
            </a:r>
            <a:pPr indent="0" marL="0">
              <a:buNone/>
            </a:pPr>
            <a:r>
              <a:rPr lang="en-US" sz="1300" dirty="0">
                <a:solidFill>
                  <a:srgbClr val="A3A8AE"/>
                </a:solidFill>
              </a:rPr>
              <a:t>  / month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8325917" y="3657600"/>
            <a:ext cx="29513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2EADD"/>
                </a:solidFill>
              </a:rPr>
              <a:t>Everything in Start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2EADD"/>
                </a:solidFill>
              </a:rPr>
              <a:t>3 branches included, +15 ₼ each extra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2EADD"/>
                </a:solidFill>
              </a:rPr>
              <a:t>Manager roles, combined reports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2EADD"/>
                </a:solidFill>
              </a:rPr>
              <a:t>Deposits, waitlist, statistics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548640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44B"/>
                </a:solidFill>
              </a:rPr>
              <a:t>30 days free, no card     ·     A year costs 10 months     ·     WhatsApp pack: 10 ₼ / 300 messages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272784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8C8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685800" y="548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1A2A"/>
                </a:solidFill>
              </a:rPr>
              <a:t>WHERE WE ARE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685800" y="868680"/>
            <a:ext cx="6675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rgbClr val="1412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and working — before launch</a:t>
            </a:r>
            <a:endParaRPr lang="en-US" sz="3600" dirty="0"/>
          </a:p>
        </p:txBody>
      </p:sp>
      <p:sp>
        <p:nvSpPr>
          <p:cNvPr id="5" name="Done 1"/>
          <p:cNvSpPr/>
          <p:nvPr/>
        </p:nvSpPr>
        <p:spPr>
          <a:xfrm>
            <a:off x="685800" y="2404872"/>
            <a:ext cx="237744" cy="237744"/>
          </a:xfrm>
          <a:prstGeom prst="ellipse">
            <a:avLst/>
          </a:prstGeom>
          <a:solidFill>
            <a:srgbClr val="14121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85800" y="23957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EADD"/>
                </a:solidFill>
              </a:rPr>
              <a:t>✓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1069848" y="237744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210"/>
                </a:solidFill>
              </a:rPr>
              <a:t>Mobile app for iOS and Android, plus the web</a:t>
            </a:r>
            <a:endParaRPr lang="en-US" sz="1600" dirty="0"/>
          </a:p>
        </p:txBody>
      </p:sp>
      <p:sp>
        <p:nvSpPr>
          <p:cNvPr id="8" name="Done 2"/>
          <p:cNvSpPr/>
          <p:nvPr/>
        </p:nvSpPr>
        <p:spPr>
          <a:xfrm>
            <a:off x="685800" y="2862072"/>
            <a:ext cx="237744" cy="237744"/>
          </a:xfrm>
          <a:prstGeom prst="ellipse">
            <a:avLst/>
          </a:prstGeom>
          <a:solidFill>
            <a:srgbClr val="14121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28529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EADD"/>
                </a:solidFill>
              </a:rPr>
              <a:t>✓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069848" y="283464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210"/>
                </a:solidFill>
              </a:rPr>
              <a:t>Salon panel in the browser</a:t>
            </a:r>
            <a:endParaRPr lang="en-US" sz="1600" dirty="0"/>
          </a:p>
        </p:txBody>
      </p:sp>
      <p:sp>
        <p:nvSpPr>
          <p:cNvPr id="11" name="Done 3"/>
          <p:cNvSpPr/>
          <p:nvPr/>
        </p:nvSpPr>
        <p:spPr>
          <a:xfrm>
            <a:off x="685800" y="3319272"/>
            <a:ext cx="237744" cy="237744"/>
          </a:xfrm>
          <a:prstGeom prst="ellipse">
            <a:avLst/>
          </a:prstGeom>
          <a:solidFill>
            <a:srgbClr val="14121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85800" y="33101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EADD"/>
                </a:solidFill>
              </a:rPr>
              <a:t>✓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1069848" y="329184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210"/>
                </a:solidFill>
              </a:rPr>
              <a:t>Server, admin panel and website</a:t>
            </a:r>
            <a:endParaRPr lang="en-US" sz="1600" dirty="0"/>
          </a:p>
        </p:txBody>
      </p:sp>
      <p:sp>
        <p:nvSpPr>
          <p:cNvPr id="14" name="Done 4"/>
          <p:cNvSpPr/>
          <p:nvPr/>
        </p:nvSpPr>
        <p:spPr>
          <a:xfrm>
            <a:off x="685800" y="3776472"/>
            <a:ext cx="237744" cy="237744"/>
          </a:xfrm>
          <a:prstGeom prst="ellipse">
            <a:avLst/>
          </a:prstGeom>
          <a:solidFill>
            <a:srgbClr val="14121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85800" y="37673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EADD"/>
                </a:solidFill>
              </a:rPr>
              <a:t>✓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1069848" y="374904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210"/>
                </a:solidFill>
              </a:rPr>
              <a:t>Three languages: Azerbaijani, Russian, English</a:t>
            </a:r>
            <a:endParaRPr lang="en-US" sz="1600" dirty="0"/>
          </a:p>
        </p:txBody>
      </p:sp>
      <p:sp>
        <p:nvSpPr>
          <p:cNvPr id="17" name="Done 5"/>
          <p:cNvSpPr/>
          <p:nvPr/>
        </p:nvSpPr>
        <p:spPr>
          <a:xfrm>
            <a:off x="685800" y="4233672"/>
            <a:ext cx="237744" cy="237744"/>
          </a:xfrm>
          <a:prstGeom prst="ellipse">
            <a:avLst/>
          </a:prstGeom>
          <a:solidFill>
            <a:srgbClr val="14121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85800" y="42245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EADD"/>
                </a:solidFill>
              </a:rPr>
              <a:t>✓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69848" y="420624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210"/>
                </a:solidFill>
              </a:rPr>
              <a:t>114 automated server tests passing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48006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1A2A"/>
                </a:solidFill>
              </a:rPr>
              <a:t>NEXT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" y="507492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5B544B"/>
                </a:solidFill>
              </a:rPr>
              <a:t>Connect a payment provider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5B544B"/>
                </a:solidFill>
              </a:rPr>
              <a:t>Host the server on yazilnow.az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5B544B"/>
                </a:solidFill>
              </a:rPr>
              <a:t>Sign the first founding salons</a:t>
            </a:r>
            <a:endParaRPr lang="en-US" sz="1500" dirty="0"/>
          </a:p>
        </p:txBody>
      </p:sp>
      <p:pic>
        <p:nvPicPr>
          <p:cNvPr id="22" name="Phone home" descr="App screen: ho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120000">
            <a:off x="7863840" y="1234440"/>
            <a:ext cx="1920240" cy="3947656"/>
          </a:xfrm>
          <a:prstGeom prst="rect">
            <a:avLst/>
          </a:prstGeom>
        </p:spPr>
      </p:pic>
      <p:pic>
        <p:nvPicPr>
          <p:cNvPr id="23" name="Phone tools" descr="App screen: tool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20000">
            <a:off x="9555480" y="868680"/>
            <a:ext cx="1920240" cy="394765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272784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8C8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685800" y="548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1A2A"/>
                </a:solidFill>
              </a:rPr>
              <a:t>TEAM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685800" y="868680"/>
            <a:ext cx="6675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rgbClr val="1412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people behind yazılnow</a:t>
            </a:r>
            <a:endParaRPr lang="en-US" sz="3600" dirty="0"/>
          </a:p>
        </p:txBody>
      </p:sp>
      <p:sp>
        <p:nvSpPr>
          <p:cNvPr id="5" name="Person 1"/>
          <p:cNvSpPr/>
          <p:nvPr/>
        </p:nvSpPr>
        <p:spPr>
          <a:xfrm>
            <a:off x="685800" y="2011680"/>
            <a:ext cx="3454298" cy="2514600"/>
          </a:xfrm>
          <a:prstGeom prst="roundRect">
            <a:avLst>
              <a:gd name="adj" fmla="val 6545"/>
            </a:avLst>
          </a:prstGeom>
          <a:solidFill>
            <a:srgbClr val="FBF7F0"/>
          </a:solidFill>
          <a:ln w="9525">
            <a:solidFill>
              <a:srgbClr val="E7DCC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60120" y="2286000"/>
            <a:ext cx="685800" cy="685800"/>
          </a:xfrm>
          <a:prstGeom prst="ellipse">
            <a:avLst/>
          </a:prstGeom>
          <a:solidFill>
            <a:srgbClr val="141210"/>
          </a:solidFill>
          <a:ln/>
        </p:spPr>
      </p:sp>
      <p:sp>
        <p:nvSpPr>
          <p:cNvPr id="7" name="Person 1 initials"/>
          <p:cNvSpPr txBox="1"/>
          <p:nvPr/>
        </p:nvSpPr>
        <p:spPr>
          <a:xfrm>
            <a:off x="960120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2EA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NS</a:t>
            </a:r>
            <a:endParaRPr lang="en-US" sz="2000" dirty="0"/>
          </a:p>
        </p:txBody>
      </p:sp>
      <p:sp>
        <p:nvSpPr>
          <p:cNvPr id="8" name="Person 1 name"/>
          <p:cNvSpPr txBox="1"/>
          <p:nvPr/>
        </p:nvSpPr>
        <p:spPr>
          <a:xfrm>
            <a:off x="960120" y="3154680"/>
            <a:ext cx="29056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412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Surname</a:t>
            </a:r>
            <a:endParaRPr lang="en-US" sz="2200" dirty="0"/>
          </a:p>
        </p:txBody>
      </p:sp>
      <p:sp>
        <p:nvSpPr>
          <p:cNvPr id="9" name="Person 1 role"/>
          <p:cNvSpPr txBox="1"/>
          <p:nvPr/>
        </p:nvSpPr>
        <p:spPr>
          <a:xfrm>
            <a:off x="960120" y="3584448"/>
            <a:ext cx="29056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1A2A"/>
                </a:solidFill>
              </a:rPr>
              <a:t>PRODUCT &amp; DESIGN</a:t>
            </a:r>
            <a:endParaRPr lang="en-US" sz="1100" dirty="0"/>
          </a:p>
        </p:txBody>
      </p:sp>
      <p:sp>
        <p:nvSpPr>
          <p:cNvPr id="10" name="Person 1 bio"/>
          <p:cNvSpPr txBox="1"/>
          <p:nvPr/>
        </p:nvSpPr>
        <p:spPr>
          <a:xfrm>
            <a:off x="960120" y="3886200"/>
            <a:ext cx="29056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544B"/>
                </a:solidFill>
              </a:rPr>
              <a:t>One line about what you do and why it fits.</a:t>
            </a:r>
            <a:endParaRPr lang="en-US" sz="1400" dirty="0"/>
          </a:p>
        </p:txBody>
      </p:sp>
      <p:sp>
        <p:nvSpPr>
          <p:cNvPr id="11" name="Person 2"/>
          <p:cNvSpPr/>
          <p:nvPr/>
        </p:nvSpPr>
        <p:spPr>
          <a:xfrm>
            <a:off x="4368698" y="2011680"/>
            <a:ext cx="3454298" cy="2514600"/>
          </a:xfrm>
          <a:prstGeom prst="roundRect">
            <a:avLst>
              <a:gd name="adj" fmla="val 6545"/>
            </a:avLst>
          </a:prstGeom>
          <a:solidFill>
            <a:srgbClr val="FBF7F0"/>
          </a:solidFill>
          <a:ln w="9525">
            <a:solidFill>
              <a:srgbClr val="E7DCC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43018" y="2286000"/>
            <a:ext cx="685800" cy="685800"/>
          </a:xfrm>
          <a:prstGeom prst="ellipse">
            <a:avLst/>
          </a:prstGeom>
          <a:solidFill>
            <a:srgbClr val="141210"/>
          </a:solidFill>
          <a:ln/>
        </p:spPr>
      </p:sp>
      <p:sp>
        <p:nvSpPr>
          <p:cNvPr id="13" name="Person 2 initials"/>
          <p:cNvSpPr txBox="1"/>
          <p:nvPr/>
        </p:nvSpPr>
        <p:spPr>
          <a:xfrm>
            <a:off x="4643018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2EA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NS</a:t>
            </a:r>
            <a:endParaRPr lang="en-US" sz="2000" dirty="0"/>
          </a:p>
        </p:txBody>
      </p:sp>
      <p:sp>
        <p:nvSpPr>
          <p:cNvPr id="14" name="Person 2 name"/>
          <p:cNvSpPr txBox="1"/>
          <p:nvPr/>
        </p:nvSpPr>
        <p:spPr>
          <a:xfrm>
            <a:off x="4643018" y="3154680"/>
            <a:ext cx="29056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412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Surname</a:t>
            </a:r>
            <a:endParaRPr lang="en-US" sz="2200" dirty="0"/>
          </a:p>
        </p:txBody>
      </p:sp>
      <p:sp>
        <p:nvSpPr>
          <p:cNvPr id="15" name="Person 2 role"/>
          <p:cNvSpPr txBox="1"/>
          <p:nvPr/>
        </p:nvSpPr>
        <p:spPr>
          <a:xfrm>
            <a:off x="4643018" y="3584448"/>
            <a:ext cx="29056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1A2A"/>
                </a:solidFill>
              </a:rPr>
              <a:t>ENGINEERING</a:t>
            </a:r>
            <a:endParaRPr lang="en-US" sz="1100" dirty="0"/>
          </a:p>
        </p:txBody>
      </p:sp>
      <p:sp>
        <p:nvSpPr>
          <p:cNvPr id="16" name="Person 2 bio"/>
          <p:cNvSpPr txBox="1"/>
          <p:nvPr/>
        </p:nvSpPr>
        <p:spPr>
          <a:xfrm>
            <a:off x="4643018" y="3886200"/>
            <a:ext cx="29056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544B"/>
                </a:solidFill>
              </a:rPr>
              <a:t>One line about what you do and why it fits.</a:t>
            </a:r>
            <a:endParaRPr lang="en-US" sz="1400" dirty="0"/>
          </a:p>
        </p:txBody>
      </p:sp>
      <p:sp>
        <p:nvSpPr>
          <p:cNvPr id="17" name="Person 3"/>
          <p:cNvSpPr/>
          <p:nvPr/>
        </p:nvSpPr>
        <p:spPr>
          <a:xfrm>
            <a:off x="8051597" y="2011680"/>
            <a:ext cx="3454298" cy="2514600"/>
          </a:xfrm>
          <a:prstGeom prst="roundRect">
            <a:avLst>
              <a:gd name="adj" fmla="val 6545"/>
            </a:avLst>
          </a:prstGeom>
          <a:solidFill>
            <a:srgbClr val="FBF7F0"/>
          </a:solidFill>
          <a:ln w="9525">
            <a:solidFill>
              <a:srgbClr val="E7DCC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325917" y="2286000"/>
            <a:ext cx="685800" cy="685800"/>
          </a:xfrm>
          <a:prstGeom prst="ellipse">
            <a:avLst/>
          </a:prstGeom>
          <a:solidFill>
            <a:srgbClr val="141210"/>
          </a:solidFill>
          <a:ln/>
        </p:spPr>
      </p:sp>
      <p:sp>
        <p:nvSpPr>
          <p:cNvPr id="19" name="Person 3 initials"/>
          <p:cNvSpPr txBox="1"/>
          <p:nvPr/>
        </p:nvSpPr>
        <p:spPr>
          <a:xfrm>
            <a:off x="8325917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2EA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NS</a:t>
            </a:r>
            <a:endParaRPr lang="en-US" sz="2000" dirty="0"/>
          </a:p>
        </p:txBody>
      </p:sp>
      <p:sp>
        <p:nvSpPr>
          <p:cNvPr id="20" name="Person 3 name"/>
          <p:cNvSpPr txBox="1"/>
          <p:nvPr/>
        </p:nvSpPr>
        <p:spPr>
          <a:xfrm>
            <a:off x="8325917" y="3154680"/>
            <a:ext cx="29056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412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Surname</a:t>
            </a:r>
            <a:endParaRPr lang="en-US" sz="2200" dirty="0"/>
          </a:p>
        </p:txBody>
      </p:sp>
      <p:sp>
        <p:nvSpPr>
          <p:cNvPr id="21" name="Person 3 role"/>
          <p:cNvSpPr txBox="1"/>
          <p:nvPr/>
        </p:nvSpPr>
        <p:spPr>
          <a:xfrm>
            <a:off x="8325917" y="3584448"/>
            <a:ext cx="29056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1A2A"/>
                </a:solidFill>
              </a:rPr>
              <a:t>SALONS &amp; GROWTH</a:t>
            </a:r>
            <a:endParaRPr lang="en-US" sz="1100" dirty="0"/>
          </a:p>
        </p:txBody>
      </p:sp>
      <p:sp>
        <p:nvSpPr>
          <p:cNvPr id="22" name="Person 3 bio"/>
          <p:cNvSpPr txBox="1"/>
          <p:nvPr/>
        </p:nvSpPr>
        <p:spPr>
          <a:xfrm>
            <a:off x="8325917" y="3886200"/>
            <a:ext cx="29056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544B"/>
                </a:solidFill>
              </a:rPr>
              <a:t>One line about what you do and why it fits.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85800" y="4892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B544B"/>
                </a:solidFill>
              </a:rPr>
              <a:t>yazilnow.az</a:t>
            </a:r>
            <a:pPr algn="l" indent="0" marL="0">
              <a:buNone/>
            </a:pPr>
            <a:r>
              <a:rPr lang="en-US" sz="1500" dirty="0">
                <a:solidFill>
                  <a:srgbClr val="6B1A2A"/>
                </a:solidFill>
              </a:rPr>
              <a:t>   ·   </a:t>
            </a:r>
            <a:pPr algn="l" indent="0" marL="0">
              <a:buNone/>
            </a:pPr>
            <a:r>
              <a:rPr lang="en-US" sz="1500" dirty="0">
                <a:solidFill>
                  <a:srgbClr val="5B544B"/>
                </a:solidFill>
              </a:rPr>
              <a:t>support@yazilnow.az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272784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8C8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mark" descr="/home/user/barbers/deck/export/phones/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1417320"/>
            <a:ext cx="914400" cy="914400"/>
          </a:xfrm>
          <a:prstGeom prst="rect">
            <a:avLst/>
          </a:prstGeom>
        </p:spPr>
      </p:pic>
      <p:sp>
        <p:nvSpPr>
          <p:cNvPr id="3" name="Logo word"/>
          <p:cNvSpPr txBox="1"/>
          <p:nvPr/>
        </p:nvSpPr>
        <p:spPr>
          <a:xfrm>
            <a:off x="4754880" y="148132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-150" kern="0" dirty="0">
                <a:solidFill>
                  <a:srgbClr val="141210"/>
                </a:solidFill>
              </a:rPr>
              <a:t>yazılnow</a:t>
            </a:r>
            <a:endParaRPr lang="en-US" sz="5200" dirty="0"/>
          </a:p>
        </p:txBody>
      </p:sp>
      <p:sp>
        <p:nvSpPr>
          <p:cNvPr id="4" name="Thank you"/>
          <p:cNvSpPr txBox="1"/>
          <p:nvPr/>
        </p:nvSpPr>
        <p:spPr>
          <a:xfrm>
            <a:off x="914400" y="269748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1412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Line"/>
          <p:cNvSpPr txBox="1"/>
          <p:nvPr/>
        </p:nvSpPr>
        <p:spPr>
          <a:xfrm>
            <a:off x="914400" y="397764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412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Ustanı tap, vaxtını tut.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2194560" y="4709160"/>
            <a:ext cx="7802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544B"/>
                </a:solidFill>
              </a:rPr>
              <a:t>yazilnow.az</a:t>
            </a:r>
            <a:pPr algn="ctr" indent="0" marL="0">
              <a:buNone/>
            </a:pPr>
            <a:r>
              <a:rPr lang="en-US" sz="1500" dirty="0">
                <a:solidFill>
                  <a:srgbClr val="6B1A2A"/>
                </a:solidFill>
              </a:rPr>
              <a:t>   ·   </a:t>
            </a:r>
            <a:pPr algn="ctr" indent="0" marL="0">
              <a:buNone/>
            </a:pPr>
            <a:r>
              <a:rPr lang="en-US" sz="1500" dirty="0">
                <a:solidFill>
                  <a:srgbClr val="5B544B"/>
                </a:solidFill>
              </a:rPr>
              <a:t>support@yazilnow.az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yazilnow">
  <a:themeElements>
    <a:clrScheme name="yazilnow">
      <a:dk1>
        <a:srgbClr val="141210"/>
      </a:dk1>
      <a:lt1>
        <a:srgbClr val="FFFFFF"/>
      </a:lt1>
      <a:dk2>
        <a:srgbClr val="5B544B"/>
      </a:dk2>
      <a:lt2>
        <a:srgbClr val="F2EADD"/>
      </a:lt2>
      <a:accent1>
        <a:srgbClr val="6B1A2A"/>
      </a:accent1>
      <a:accent2>
        <a:srgbClr val="A3A8AE"/>
      </a:accent2>
      <a:accent3>
        <a:srgbClr val="E7DCC9"/>
      </a:accent3>
      <a:accent4>
        <a:srgbClr val="FBF7F0"/>
      </a:accent4>
      <a:accent5>
        <a:srgbClr val="8C8478"/>
      </a:accent5>
      <a:accent6>
        <a:srgbClr val="F3E3E4"/>
      </a:accent6>
      <a:hlink>
        <a:srgbClr val="6B1A2A"/>
      </a:hlink>
      <a:folHlink>
        <a:srgbClr val="5B544B"/>
      </a:folHlink>
    </a:clrScheme>
    <a:fontScheme name="yazilnow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yazılnow — pitch deck</dc:title>
  <dc:subject>PptxGenJS Presentation</dc:subject>
  <dc:creator>yazılnow</dc:creator>
  <cp:lastModifiedBy>yazılnow</cp:lastModifiedBy>
  <cp:revision>1</cp:revision>
  <dcterms:created xsi:type="dcterms:W3CDTF">2026-11-01T15:02:01Z</dcterms:created>
  <dcterms:modified xsi:type="dcterms:W3CDTF">2026-11-01T15:02:01Z</dcterms:modified>
</cp:coreProperties>
</file>